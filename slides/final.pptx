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42119482bf4fab" /><Relationship Type="http://schemas.openxmlformats.org/officeDocument/2006/relationships/extended-properties" Target="/docProps/app.xml" Id="Rffbc0544f2c74dc2" /><Relationship Type="http://schemas.openxmlformats.org/officeDocument/2006/relationships/officeDocument" Target="/ppt/presentation.xml" Id="R7ffa2bc5fd8d43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470f844bd946c8"/>
  </p:sldMasterIdLst>
  <p:notesMasterIdLst>
    <p:notesMasterId xmlns:r="http://schemas.openxmlformats.org/officeDocument/2006/relationships" r:id="R75c1741e513149e5"/>
  </p:notesMasterIdLst>
  <p:sldIdLst>
    <p:sldId xmlns:r="http://schemas.openxmlformats.org/officeDocument/2006/relationships" id="256" r:id="Rca2edde204834d4b"/>
    <p:sldId xmlns:r="http://schemas.openxmlformats.org/officeDocument/2006/relationships" id="257" r:id="R21f125bfd63e434f"/>
    <p:sldId xmlns:r="http://schemas.openxmlformats.org/officeDocument/2006/relationships" id="258" r:id="R39c75ed246c74f42"/>
    <p:sldId xmlns:r="http://schemas.openxmlformats.org/officeDocument/2006/relationships" id="259" r:id="R1ec86b35ddd2423c"/>
    <p:sldId xmlns:r="http://schemas.openxmlformats.org/officeDocument/2006/relationships" id="260" r:id="R002a0b2ac8284992"/>
    <p:sldId xmlns:r="http://schemas.openxmlformats.org/officeDocument/2006/relationships" id="261" r:id="R5b88fec657ff43e6"/>
    <p:sldId xmlns:r="http://schemas.openxmlformats.org/officeDocument/2006/relationships" id="262" r:id="Rd2cd793126f54762"/>
    <p:sldId xmlns:r="http://schemas.openxmlformats.org/officeDocument/2006/relationships" id="263" r:id="Rbc0f7bc9323c49f3"/>
    <p:sldId xmlns:r="http://schemas.openxmlformats.org/officeDocument/2006/relationships" id="264" r:id="R11ceb0bb04394d59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79a5249b8b4333" /><Relationship Type="http://schemas.openxmlformats.org/officeDocument/2006/relationships/slideMaster" Target="/ppt/slideMasters/slideMaster1.xml" Id="R4a470f844bd946c8" /><Relationship Type="http://schemas.openxmlformats.org/officeDocument/2006/relationships/notesMaster" Target="/ppt/notesMasters/notesMaster1.xml" Id="R75c1741e513149e5" /><Relationship Type="http://schemas.openxmlformats.org/officeDocument/2006/relationships/presProps" Target="/ppt/presProps.xml" Id="Re01af87a54314137" /><Relationship Type="http://schemas.openxmlformats.org/officeDocument/2006/relationships/viewProps" Target="/ppt/viewProps.xml" Id="R914e6e6fa1fc4466" /><Relationship Type="http://schemas.openxmlformats.org/officeDocument/2006/relationships/tableStyles" Target="/ppt/tableStyles.xml" Id="Rebfc21d3e8b24227" /><Relationship Type="http://schemas.openxmlformats.org/officeDocument/2006/relationships/slide" Target="/ppt/slides/slide1.xml" Id="Rca2edde204834d4b" /><Relationship Type="http://schemas.openxmlformats.org/officeDocument/2006/relationships/slide" Target="/ppt/slides/slide2.xml" Id="R21f125bfd63e434f" /><Relationship Type="http://schemas.openxmlformats.org/officeDocument/2006/relationships/slide" Target="/ppt/slides/slide3.xml" Id="R39c75ed246c74f42" /><Relationship Type="http://schemas.openxmlformats.org/officeDocument/2006/relationships/slide" Target="/ppt/slides/slide4.xml" Id="R1ec86b35ddd2423c" /><Relationship Type="http://schemas.openxmlformats.org/officeDocument/2006/relationships/slide" Target="/ppt/slides/slide5.xml" Id="R002a0b2ac8284992" /><Relationship Type="http://schemas.openxmlformats.org/officeDocument/2006/relationships/slide" Target="/ppt/slides/slide6.xml" Id="R5b88fec657ff43e6" /><Relationship Type="http://schemas.openxmlformats.org/officeDocument/2006/relationships/slide" Target="/ppt/slides/slide7.xml" Id="Rd2cd793126f54762" /><Relationship Type="http://schemas.openxmlformats.org/officeDocument/2006/relationships/slide" Target="/ppt/slides/slide8.xml" Id="Rbc0f7bc9323c49f3" /><Relationship Type="http://schemas.openxmlformats.org/officeDocument/2006/relationships/slide" Target="/ppt/slides/slide9.xml" Id="R11ceb0bb04394d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7f55bb7cb646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ca77b60392439d" /><Relationship Type="http://schemas.openxmlformats.org/officeDocument/2006/relationships/notesMaster" Target="/ppt/notesMasters/notesMaster1.xml" Id="R1878b3a35a3743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b3d565e3314120" /><Relationship Type="http://schemas.openxmlformats.org/officeDocument/2006/relationships/notesMaster" Target="/ppt/notesMasters/notesMaster1.xml" Id="R7da79bff10a241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f8fd79b19041fb" /><Relationship Type="http://schemas.openxmlformats.org/officeDocument/2006/relationships/notesMaster" Target="/ppt/notesMasters/notesMaster1.xml" Id="Rfd1732728bea4f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f3ac22ed064ced" /><Relationship Type="http://schemas.openxmlformats.org/officeDocument/2006/relationships/notesMaster" Target="/ppt/notesMasters/notesMaster1.xml" Id="R1b6cc62bed3146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fb42f2b719400a" /><Relationship Type="http://schemas.openxmlformats.org/officeDocument/2006/relationships/notesMaster" Target="/ppt/notesMasters/notesMaster1.xml" Id="R9b2114894f7b4b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8ce67a4228419b" /><Relationship Type="http://schemas.openxmlformats.org/officeDocument/2006/relationships/notesMaster" Target="/ppt/notesMasters/notesMaster1.xml" Id="R4e59f5e1e4b748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c276f562a247f6" /><Relationship Type="http://schemas.openxmlformats.org/officeDocument/2006/relationships/notesMaster" Target="/ppt/notesMasters/notesMaster1.xml" Id="R494fb0a96aac4a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fb9354d4ce4982" /><Relationship Type="http://schemas.openxmlformats.org/officeDocument/2006/relationships/notesMaster" Target="/ppt/notesMasters/notesMaster1.xml" Id="Re2385f802e1745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e386b814164bcf" /><Relationship Type="http://schemas.openxmlformats.org/officeDocument/2006/relationships/notesMaster" Target="/ppt/notesMasters/notesMaster1.xml" Id="R201fd08397e9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Original project: experiments/power_vane/TrainValidation.ipynb, executed cells 20, 24, 26, 32, 39–51.</a:t>
            </a:r>
            <a:endParaRPr/>
          </a:p>
          <a:p xmlns:a="http://schemas.openxmlformats.org/drawingml/2006/main">
            <a:r>
              <a:t>Frozen B0 predictions and verified FINAL_METHOD_SUMMARY.md.</a:t>
            </a:r>
            <a:endParaRPr/>
          </a:p>
          <a:p xmlns:a="http://schemas.openxmlformats.org/drawingml/2006/main">
            <a:r>
              <a:t>All numerical claims are project results; no external illustrative evidence.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2080969391409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36ef8e6357489f" /><Relationship Type="http://schemas.openxmlformats.org/officeDocument/2006/relationships/slideLayout" Target="/ppt/slideLayouts/slideLayout1.xml" Id="R3c38fbfac30340e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38fbfac30340e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b298d47f74bc3" /><Relationship Type="http://schemas.openxmlformats.org/officeDocument/2006/relationships/notesSlide" Target="/ppt/notesSlides/notesSlide1.xml" Id="R18c723d0128044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95b6ffe9e4da7" /><Relationship Type="http://schemas.openxmlformats.org/officeDocument/2006/relationships/notesSlide" Target="/ppt/notesSlides/notesSlide2.xml" Id="R5ad0537403e44a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9c06551984b11" /><Relationship Type="http://schemas.openxmlformats.org/officeDocument/2006/relationships/notesSlide" Target="/ppt/notesSlides/notesSlide3.xml" Id="Rabd11e56e43043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c0fb5e16245d8" /><Relationship Type="http://schemas.openxmlformats.org/officeDocument/2006/relationships/notesSlide" Target="/ppt/notesSlides/notesSlide4.xml" Id="R7593b8cc899945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9bf6b19e044b1" /><Relationship Type="http://schemas.openxmlformats.org/officeDocument/2006/relationships/notesSlide" Target="/ppt/notesSlides/notesSlide5.xml" Id="Rfa9c76e1e5f744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77f36743b4e2e" /><Relationship Type="http://schemas.openxmlformats.org/officeDocument/2006/relationships/notesSlide" Target="/ppt/notesSlides/notesSlide6.xml" Id="Rc13335fe4b4542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5211a4fd949cf" /><Relationship Type="http://schemas.openxmlformats.org/officeDocument/2006/relationships/notesSlide" Target="/ppt/notesSlides/notesSlide7.xml" Id="R2b08ea70e39f49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310aec43347ca" /><Relationship Type="http://schemas.openxmlformats.org/officeDocument/2006/relationships/notesSlide" Target="/ppt/notesSlides/notesSlide8.xml" Id="Rb19c2cccc94948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ddb4231bb49d4" /><Relationship Type="http://schemas.openxmlformats.org/officeDocument/2006/relationships/notesSlide" Target="/ppt/notesSlides/notesSlide9.xml" Id="R003c6407c03e49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99D18D3-5F6A-4B9D-9237-DB90E554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1C1F8D-DCB0-49FB-937A-22FAAC75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Static yaw: a long-term vane reference wins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AE2C77B-DFFC-427E-A6C2-596DD2F8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Energy Hack Days / WeDoWind · three labelled turbines · frozen final model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0401F49-161A-4B93-A270-3AD8E209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D316FC-CC88-43E1-B6CB-92DED272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1/9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976CC57-624A-4194-8774-AD5507EB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The problem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5C4ED3A-A95A-4B41-918A-6C2F7FC2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45720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>
                <a:solidFill>
                  <a:srgbClr val="172033"/>
                </a:solidFill>
                <a:latin typeface="Aptos"/>
                <a:ea typeface="Aptos"/>
                <a:cs typeface="Aptos"/>
              </a:rPr>
              <a:t>Estimate persistent yaw offset from SCADA. Raw vane angle is not the true label: controller and aerodynamic reference bias can remain.</a:t>
            </a:r>
            <a:endParaRPr sz="1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336264-7DBC-404E-86ED-2530329C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18288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Use only</a:t>
            </a:r>
            <a:endParaRPr sz="1550"/>
          </a:p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PPP_WTG12 / 13 / 14</a:t>
            </a:r>
            <a:endParaRPr sz="15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64E4FA9-AB91-4597-A0E9-8A5064FA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417320"/>
            <a:ext cx="18288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D5F8B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Strict leave-one-</a:t>
            </a:r>
            <a:endParaRPr sz="1550"/>
          </a:p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turbine-out</a:t>
            </a:r>
            <a:endParaRPr sz="15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47EDB80-FBBD-4871-BD22-7646CFE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417320"/>
            <a:ext cx="1600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Frozen targets</a:t>
            </a:r>
            <a:endParaRPr sz="1450"/>
          </a:p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PPP17 / SSS06</a:t>
            </a:r>
            <a:endParaRPr sz="14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2D4CDC7-CB48-4B5C-B998-8199D017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349240" y="1810512"/>
            <a:ext cx="210312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517ABB9-FE6C-4F0F-A8C2-BC90166C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612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Evidence path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BA2334-C5EC-41F1-8BA6-9B180DB0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18745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2700">
            <a:solidFill>
              <a:srgbClr val="2D5F8B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WINNER</a:t>
            </a:r>
            <a:endParaRPr sz="1380"/>
          </a:p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C − median(argmax)</a:t>
            </a:r>
            <a:endParaRPr sz="138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6BA23B-8316-47F9-A1B6-C8650576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050792"/>
            <a:ext cx="59436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F164B48-950B-4689-A9F0-9433E27F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703320"/>
            <a:ext cx="18745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ROBUSTNESS</a:t>
            </a:r>
            <a:endParaRPr sz="1380"/>
          </a:p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28-day bootstrap</a:t>
            </a:r>
            <a:endParaRPr sz="138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D14A6AF-9671-4305-8707-A2388641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050792"/>
            <a:ext cx="59436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8A369EA-9B69-4F85-A420-029E5BC2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03320"/>
            <a:ext cx="18745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F6"/>
          </a:solidFill>
          <a:ln xmlns:a="http://schemas.openxmlformats.org/drawingml/2006/main" w="12700">
            <a:solidFill>
              <a:srgbClr val="695C9E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DOMAIN SHIFT</a:t>
            </a:r>
            <a:endParaRPr sz="1380"/>
          </a:p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PPP versus SSS</a:t>
            </a:r>
            <a:endParaRPr sz="138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245D45D-B46B-40B5-85D8-A867DF64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50792"/>
            <a:ext cx="59436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D56CC10-6D93-457F-A7E6-5D6897E2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703320"/>
            <a:ext cx="21031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FINAL PREDICTION</a:t>
            </a:r>
            <a:endParaRPr sz="1380"/>
          </a:p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172033"/>
                </a:solidFill>
              </a:rPr>
              <a:t>fixed point values</a:t>
            </a:r>
            <a:endParaRPr sz="13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BCF7179-1BB8-4BEC-A5EA-DD41E20C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0749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0.519°</a:t>
            </a:r>
            <a:endParaRPr sz="2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D795829-00E0-4970-B385-C974E0F5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5504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637083"/>
                </a:solidFill>
                <a:latin typeface="Aptos"/>
                <a:ea typeface="Aptos"/>
                <a:cs typeface="Aptos"/>
              </a:rPr>
              <a:t>strict LOTO macro MAE after long-term vane calibration</a:t>
            </a:r>
            <a:endParaRPr sz="103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3190C52-042F-4EC6-BDC4-E87E0122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0749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0.462°</a:t>
            </a:r>
            <a:endParaRPr sz="2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F705C35-34C0-412F-BABE-AF9D32C2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5504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637083"/>
                </a:solidFill>
                <a:latin typeface="Aptos"/>
                <a:ea typeface="Aptos"/>
                <a:cs typeface="Aptos"/>
              </a:rPr>
              <a:t>oracle constant macro MAE diagnostic</a:t>
            </a:r>
            <a:endParaRPr sz="103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122E514-829A-4305-9242-CF0F270E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166360"/>
            <a:ext cx="27432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8957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About 80% lower macro MAE than the prior residual Ridge (2.647°). Only three labelled turbines.</a:t>
            </a:r>
            <a:endParaRPr sz="1450"/>
          </a:p>
        </p:txBody>
      </p:sp>
    </p:spTree>
    <p:extLst>
      <p:ext uri="{BB962C8B-B14F-4D97-AF65-F5344CB8AC3E}">
        <p14:creationId xmlns:p14="http://schemas.microsoft.com/office/powerpoint/2010/main" val="2027037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528544D-CE8C-43A8-BCCB-3267134B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85CB95E-8B9D-4B37-A753-D1F71F7C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B0 identifies an apparent power-optimal vane angle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BEDB001-F795-47B4-A115-1F35F69D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Frozen settings: 21-day centered windows · WindSpeed bins 1.0 · angle bins 1°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C3285BD-D1EA-41CC-BA6E-48BFA3BB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B5EAE78-6925-45D6-9348-BFCCC8E6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2/9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57D4816-B8B6-4A09-B251-70EFC7CB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PHYSICAL STRUCTURE</a:t>
            </a:r>
            <a:endParaRPr sz="88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11AC152-2CA8-44B2-BF2F-2612C429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3317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172033"/>
                </a:solidFill>
              </a:rPr>
              <a:t>P ≈ f(U) × h(γ)</a:t>
            </a:r>
            <a:endParaRPr sz="1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1BE062E-0E5A-45D3-85D4-7C80F1C3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23317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80">
                <a:solidFill>
                  <a:srgbClr val="637083"/>
                </a:solidFill>
                <a:latin typeface="Aptos"/>
                <a:ea typeface="Aptos"/>
                <a:cs typeface="Aptos"/>
              </a:rPr>
              <a:t>U = WindSpeed</a:t>
            </a:r>
            <a:endParaRPr sz="1280"/>
          </a:p>
          <a:p xmlns:a="http://schemas.openxmlformats.org/drawingml/2006/main">
            <a:pPr marL="0" indent="0" algn="l">
              <a:buNone/>
            </a:pPr>
            <a:r>
              <a:rPr sz="1280">
                <a:solidFill>
                  <a:srgbClr val="637083"/>
                </a:solidFill>
                <a:latin typeface="Aptos"/>
                <a:ea typeface="Aptos"/>
                <a:cs typeface="Aptos"/>
              </a:rPr>
              <a:t>γ = wrap(WindDir − NacDir)</a:t>
            </a:r>
            <a:endParaRPr sz="1280"/>
          </a:p>
          <a:p xmlns:a="http://schemas.openxmlformats.org/drawingml/2006/main">
            <a:pPr marL="0" indent="0" algn="l">
              <a:buNone/>
            </a:pPr>
            <a:r>
              <a:rPr sz="1280">
                <a:solidFill>
                  <a:srgbClr val="637083"/>
                </a:solidFill>
                <a:latin typeface="Aptos"/>
                <a:ea typeface="Aptos"/>
                <a:cs typeface="Aptos"/>
              </a:rPr>
              <a:t>Yaw loss: P ~ P₀ cosᵖ(θ)</a:t>
            </a:r>
            <a:endParaRPr sz="128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18A2B2-9CF9-4E67-B74A-26B9260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874520"/>
            <a:ext cx="6400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F49F554-E815-4DAB-BE3F-FB8A29CA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325880"/>
            <a:ext cx="2103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B0 NORMALIZATION</a:t>
            </a:r>
            <a:endParaRPr sz="88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C896C55-D515-4932-8251-59583847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600200"/>
            <a:ext cx="29260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20" b="1">
                <a:solidFill>
                  <a:srgbClr val="172033"/>
                </a:solidFill>
              </a:rPr>
              <a:t>Pnorm = P / median(P | U-bin)</a:t>
            </a:r>
            <a:endParaRPr sz="162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7569B37-FFBF-460B-941D-F07835D9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331720"/>
            <a:ext cx="2743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>
                <a:solidFill>
                  <a:srgbClr val="172033"/>
                </a:solidFill>
                <a:latin typeface="Aptos"/>
                <a:ea typeface="Aptos"/>
                <a:cs typeface="Aptos"/>
              </a:rPr>
              <a:t>This is a relative efficiency proxy, not Cp. It asks: at similar WindSpeed, was power unusually high or low?</a:t>
            </a:r>
            <a:endParaRPr sz="13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A13DBBB-A57F-437D-91F5-FFEDDD50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74520"/>
            <a:ext cx="6400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D0C8B9"/>
            </a:solidFill>
            <a:prstDash val="solid"/>
            <a:tailEnd type="triangle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79B132-D8FC-49F7-B131-E2C16B14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325880"/>
            <a:ext cx="2103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2D5F8B"/>
                </a:solidFill>
                <a:latin typeface="Aptos"/>
                <a:ea typeface="Aptos"/>
                <a:cs typeface="Aptos"/>
              </a:rPr>
              <a:t>POWER-VANE CURVE</a:t>
            </a:r>
            <a:endParaRPr sz="88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75F1EF9-C3CA-4FD1-B345-1BEE4069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136392"/>
            <a:ext cx="2971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D0C8B9"/>
            </a:solidFill>
            <a:prstDash val="solid"/>
            <a:tailEnd type="non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AF853C4-A4C3-4304-AE9E-CF5A5800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627632"/>
            <a:ext cx="0" cy="150876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D0C8B9"/>
            </a:solidFill>
            <a:prstDash val="solid"/>
            <a:tailEnd type="non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30E1B8A-FAB5-4049-BDED-08FC3361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046720" y="2779678"/>
            <a:ext cx="106136" cy="145488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A3548C7-E158-4659-BE79-28BE9F39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152856" y="2644967"/>
            <a:ext cx="106136" cy="134711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446880E-9A2D-4DB5-B22A-708367FE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58991" y="2521033"/>
            <a:ext cx="106136" cy="123934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700402F-1FC1-4652-A0FC-2806DECA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365127" y="2407876"/>
            <a:ext cx="106136" cy="113157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C265E3A-9196-4563-B29A-80D62645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71263" y="2305496"/>
            <a:ext cx="106136" cy="10238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256DB7B-327E-45B8-8687-387E7CF3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577399" y="2213893"/>
            <a:ext cx="106136" cy="91603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7742D7E-9FA0-4B63-A4D0-3C99FB48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683534" y="2133067"/>
            <a:ext cx="106136" cy="80826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C3880A2-08B9-4061-A17C-1414E986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789670" y="2063017"/>
            <a:ext cx="106136" cy="700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38F1582-7693-4CA6-9542-A9B50540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95806" y="2003744"/>
            <a:ext cx="106136" cy="59273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C79D12-240B-4802-89A6-08297D1F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001941" y="1955248"/>
            <a:ext cx="106136" cy="48496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E43F0AF-6F17-4898-9606-A883C03F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108077" y="1917529"/>
            <a:ext cx="106136" cy="37719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354DD52-B9A8-41B2-99EE-CAAAA5A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14213" y="1890587"/>
            <a:ext cx="106136" cy="26942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11F7169-287E-48CA-9476-3E4F071B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320349" y="1874422"/>
            <a:ext cx="106136" cy="1616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B9FE1208-6A43-4550-86A8-E2B63BCD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426484" y="1869034"/>
            <a:ext cx="106136" cy="5388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CD52C07-756A-4358-9A6B-19E60B7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2620" y="1869034"/>
            <a:ext cx="106136" cy="5388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A2F4CBF-CBF6-4045-870B-2D0026C3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8756" y="1874422"/>
            <a:ext cx="106136" cy="1616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EF080196-C042-475A-82A9-A2E768A0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891" y="1890587"/>
            <a:ext cx="106136" cy="26942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422B877-0DC9-4640-AB29-7636894C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027" y="1917529"/>
            <a:ext cx="106136" cy="37719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FD910BE-F586-4E93-B6CB-EFBCA456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163" y="1955248"/>
            <a:ext cx="106136" cy="48496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B4193F2-4453-4BD9-8FA3-E20E1140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3299" y="2003744"/>
            <a:ext cx="106136" cy="59273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04CC8B3C-C628-48ED-B9EC-1D0FA45D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434" y="2063017"/>
            <a:ext cx="106136" cy="700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E383D3C0-01E3-4EEA-8293-458A419A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570" y="2133067"/>
            <a:ext cx="106136" cy="80826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731BDCA0-362D-4F57-AB99-D8F413B3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1706" y="2213893"/>
            <a:ext cx="106136" cy="91603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7A0836D-7F30-4975-A670-778D0101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841" y="2305496"/>
            <a:ext cx="106136" cy="10238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8316765E-2E6B-450A-B141-CE2BC27D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77" y="2407876"/>
            <a:ext cx="106136" cy="113157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91749B7B-6990-46E3-9550-2FEB73C9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0113" y="2521033"/>
            <a:ext cx="106136" cy="123934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B3CE9DA6-A86A-4AD1-AB5E-62676E91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6249" y="2644967"/>
            <a:ext cx="106136" cy="134711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09BD274B-EB05-4DE1-9853-99831F55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2384" y="2779678"/>
            <a:ext cx="106136" cy="145488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25400">
            <a:solidFill>
              <a:srgbClr val="2D5F8B"/>
            </a:solidFill>
            <a:prstDash val="solid"/>
            <a:tailEnd type="none"/>
          </a:ln>
        </p:spPr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7D854665-42F9-433F-8092-0037D17A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788920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6F356133-3500-4A96-A0AC-B9EFB2C4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232" y="239664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B9852603-580D-4B17-885B-993D5CC3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284" y="2004365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FCDBBA83-10DF-4352-B4D7-32125CEB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38401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0160">
            <a:solidFill>
              <a:srgbClr val="E07A2F"/>
            </a:solidFill>
            <a:prstDash val="solid"/>
          </a:ln>
        </p:spPr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83BAFDB4-44C1-4056-A9B5-EB6FDEA2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1989277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2F72F7A1-7063-4245-9EAF-B3485DBC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9568" y="2411730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DBB615E1-00EA-44CA-B1D8-59DFE97F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5902" y="2819095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0160">
            <a:solidFill>
              <a:srgbClr val="2D5F8B"/>
            </a:solidFill>
            <a:prstDash val="solid"/>
          </a:ln>
        </p:spPr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96045C23-E287-41DD-93EA-22235A02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2620" y="1700784"/>
            <a:ext cx="0" cy="1435608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5240">
            <a:solidFill>
              <a:srgbClr val="E07A2F"/>
            </a:solidFill>
            <a:prstDash val="solid"/>
            <a:tailEnd type="none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E342A706-0BDD-45A7-A54B-51F4BCCD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4020" y="1609344"/>
            <a:ext cx="4572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peak</a:t>
            </a:r>
            <a:endParaRPr sz="850"/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327334C8-CD26-4B61-91D6-7CE64DFE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383280"/>
            <a:ext cx="2926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D5F8B"/>
                </a:solidFill>
                <a:latin typeface="Aptos"/>
                <a:ea typeface="Aptos"/>
                <a:cs typeface="Aptos"/>
              </a:rPr>
              <a:t>Peak = apparent vane angle where normalized power is maximal.</a:t>
            </a:r>
            <a:endParaRPr sz="138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19E92970-B8AE-478A-BBCF-8FA37DA7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106984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  <a:tailEnd type="none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16550DD4-D1F6-4DA4-9E15-1A73A47E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20574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2700">
            <a:solidFill>
              <a:srgbClr val="2D5F8B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formal B0</a:t>
            </a:r>
            <a:endParaRPr sz="1450"/>
          </a:p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raw argmax</a:t>
            </a:r>
            <a:endParaRPr sz="1450"/>
          </a:p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40A080B8-D48B-4166-A585-78E50E23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617720"/>
            <a:ext cx="265176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reliable support</a:t>
            </a:r>
            <a:endParaRPr sz="1450"/>
          </a:p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2033"/>
                </a:solidFill>
              </a:rPr>
              <a:t>≥20 rows/bin; ≥8 bins</a:t>
            </a:r>
            <a:endParaRPr sz="1450"/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5623E129-8CBC-4D07-9370-50D97AD2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7720"/>
            <a:ext cx="32004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172033"/>
                </a:solidFill>
              </a:rPr>
              <a:t>final long-term reference</a:t>
            </a:r>
            <a:endParaRPr sz="1420"/>
          </a:p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172033"/>
                </a:solidFill>
              </a:rPr>
              <a:t>θ* = median of rolling argmax</a:t>
            </a:r>
            <a:endParaRPr sz="1420"/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643F33C6-9976-4055-B4D6-A429659A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0644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Gamma is a vane/controller reference, not the true yaw label. Use gamma in [−30°, +30°].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032856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7253047-36F4-46B5-AE3A-FB857098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5A6252-A1A1-49A8-B87D-685F17F5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Earlier daily models retained large absolute bias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84DC298-5E5F-4A8D-9A8A-DD7B6315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Daily models were dominated by persistent bias, not missing feature complexity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1274C2D-BF53-4C9E-A08C-671BFF27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DADD0A-7170-4589-B3EA-60202950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3/9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8D27CD8-37C8-498D-8400-F68691CD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5F8B"/>
                </a:solidFill>
                <a:latin typeface="Aptos"/>
                <a:ea typeface="Aptos"/>
                <a:cs typeface="Aptos"/>
              </a:rPr>
              <a:t>Strict 3-turbine LOTO comparison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5D79985-A660-4B64-9977-BB928E1B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49040"/>
            <a:ext cx="438912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D0C8B9"/>
            </a:solidFill>
            <a:prstDash val="solid"/>
            <a:tailEnd type="non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894A66-C647-40A1-B3DC-94265FDD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2523"/>
            <a:ext cx="1008126" cy="1696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8B9"/>
          </a:solidFill>
          <a:ln xmlns:a="http://schemas.openxmlformats.org/drawingml/2006/main" w="12700">
            <a:solidFill>
              <a:srgbClr val="D0C8B9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F56F5A9-6AC4-41BC-AFA7-2A1698F2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796491"/>
            <a:ext cx="104470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2.783</a:t>
            </a:r>
            <a:endParaRPr sz="88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D78760-A0F7-4B7F-96FC-BC8B01FD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100812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RF</a:t>
            </a:r>
            <a:endParaRPr sz="78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4C17481-AEE0-4A2E-BB9A-A1CBDE48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238" y="2024482"/>
            <a:ext cx="1008126" cy="17245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F8B"/>
          </a:solidFill>
          <a:ln xmlns:a="http://schemas.openxmlformats.org/drawingml/2006/main" w="12700">
            <a:solidFill>
              <a:srgbClr val="2D5F8B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41728FD-9807-4ADB-BA3D-B592469A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68450"/>
            <a:ext cx="104470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2.829</a:t>
            </a:r>
            <a:endParaRPr sz="88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CFC2F83-6486-43DC-A48E-ECD45396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238" y="3886200"/>
            <a:ext cx="100812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Physics v2</a:t>
            </a:r>
            <a:endParaRPr sz="78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7BD73F0-7DF1-4A39-A3A4-D9659644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135429"/>
            <a:ext cx="1008126" cy="1613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695C9E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1186803-8983-46AB-A327-7D1BED36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948" y="1879397"/>
            <a:ext cx="104470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2.647</a:t>
            </a:r>
            <a:endParaRPr sz="88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BB2D4AE-AF68-4869-B3AC-DBE537BC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3886200"/>
            <a:ext cx="100812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Residual Ridge</a:t>
            </a:r>
            <a:endParaRPr sz="78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6F22AA8-3F52-4CCD-BE92-D233EFA8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8234" y="2138477"/>
            <a:ext cx="1008126" cy="16105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E07A2F">
                <a:alpha val="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60007D-ACE4-49F8-9A0B-ED849309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9946" y="1882445"/>
            <a:ext cx="104470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2.642</a:t>
            </a:r>
            <a:endParaRPr sz="88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0370F01-B33B-4C40-8BB8-2E3D79AD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8234" y="3886200"/>
            <a:ext cx="100812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Enhanced residual</a:t>
            </a:r>
            <a:endParaRPr sz="7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9824C94-F334-42E6-AE77-7B2F13FC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4023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Enhanced features improved macro MAE by only 0.005°. Not worth the extra complexity.</a:t>
            </a:r>
            <a:endParaRPr sz="14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E877832-F313-4CF6-A077-DE5A6D74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5880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Bias dominates residuals</a:t>
            </a:r>
            <a:endParaRPr sz="11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DC1666B-4903-4BF2-A9FC-1BDF073A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37360"/>
            <a:ext cx="10515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FFFFF"/>
                </a:solidFill>
              </a:rPr>
              <a:t>Turbine</a:t>
            </a:r>
            <a:endParaRPr sz="108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9AD3817-7C4B-4247-8694-01A6FD60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737360"/>
            <a:ext cx="822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FFFFF"/>
                </a:solidFill>
              </a:rPr>
              <a:t>MAE</a:t>
            </a:r>
            <a:endParaRPr sz="108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1C9AA8E-38FC-4B9B-A5C1-1A18D67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737360"/>
            <a:ext cx="1097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FFFFF"/>
                </a:solidFill>
              </a:rPr>
              <a:t>Mean bias</a:t>
            </a:r>
            <a:endParaRPr sz="108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B637AF1-7449-4150-ACB5-E62C9EAF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37360"/>
            <a:ext cx="123444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FFFFF"/>
                </a:solidFill>
              </a:rPr>
              <a:t>Debiased MAE</a:t>
            </a:r>
            <a:endParaRPr sz="108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6E51EA8-DF82-4984-9858-AE17F166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57984"/>
            <a:ext cx="10515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WTG12</a:t>
            </a:r>
            <a:endParaRPr sz="108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C38FCE5-D1D7-4A52-818D-E66240E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157984"/>
            <a:ext cx="822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1.063</a:t>
            </a:r>
            <a:endParaRPr sz="108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FC27FD3-0F17-4E73-BB90-AEDF83DD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157984"/>
            <a:ext cx="1097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−1.062</a:t>
            </a:r>
            <a:endParaRPr sz="108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ABAFA82-FB98-43A5-95F8-5072CB6C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57984"/>
            <a:ext cx="123444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0.527</a:t>
            </a:r>
            <a:endParaRPr sz="108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AFE9A41-B7CC-416C-84E3-4144BA0B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78608"/>
            <a:ext cx="10515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WTG13</a:t>
            </a:r>
            <a:endParaRPr sz="108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AC3BF79-8426-4B41-8D23-DE697F2F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78608"/>
            <a:ext cx="822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5.172</a:t>
            </a:r>
            <a:endParaRPr sz="108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1CB3C1D-676D-4634-B2D1-081A3C3A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578608"/>
            <a:ext cx="1097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+5.172</a:t>
            </a:r>
            <a:endParaRPr sz="108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47B0F78-A3A2-4449-AC76-76DCC31D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78608"/>
            <a:ext cx="123444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0.840</a:t>
            </a:r>
            <a:endParaRPr sz="108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2478589-4445-4283-BBC0-24BBD543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99232"/>
            <a:ext cx="10515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WTG14</a:t>
            </a:r>
            <a:endParaRPr sz="108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1D9E105-80BD-4A11-ACE4-414A5AC2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999232"/>
            <a:ext cx="822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1.704</a:t>
            </a:r>
            <a:endParaRPr sz="108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934083D-FE37-4DF8-990B-645EC047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999232"/>
            <a:ext cx="1097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−1.704</a:t>
            </a:r>
            <a:endParaRPr sz="108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7259409E-BC9E-4D33-B792-2E77814E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99232"/>
            <a:ext cx="123444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>
                <a:solidFill>
                  <a:srgbClr val="172033"/>
                </a:solidFill>
              </a:rPr>
              <a:t>0.319</a:t>
            </a:r>
            <a:endParaRPr sz="108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41CABB8-89D9-443D-91BC-6D52EF33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749040"/>
            <a:ext cx="466344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After removing each turbine’s own mean error as a diagnostic, MAE collapses. The main error is absolute reference level.</a:t>
            </a:r>
            <a:endParaRPr sz="142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935D017-3C3B-40F8-8CD3-37FCC675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4800600"/>
            <a:ext cx="4572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E07A2F"/>
                </a:solidFill>
              </a:rPr>
              <a:t>New target: estimate turbine-level yaw level, not daily dynamics.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5772735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19E6089-2A37-44D9-A6E2-D690CDA1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EEB96B-3419-4383-8D2A-6B460A72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The winning model is yaw = C − θ*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AD9A562-09D8-444A-9BC1-E6BAA315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θ* is the long-term median B0 argmax · full-training C = −6.079°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7D5EACA-C171-4859-AE2C-BB91D284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1EF1AA-ECBF-42D8-A3CA-42A7F11E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4/9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8D889BA-C689-49B6-B384-4055937C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Observed invariant across the 3 labelled turbines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043BC86-ED99-4159-8448-EF6A8132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37360"/>
            <a:ext cx="45720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Cᵢ = mean(targetᵢ) + median(θ_argmax,ᵢ)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E63C880-A874-4F64-9E33-7C257E86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0604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FFFFF"/>
                </a:solidFill>
              </a:rPr>
              <a:t>Turbine</a:t>
            </a:r>
            <a:endParaRPr sz="104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BABBC75-EAF5-4669-81AB-BAAA53B0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606040"/>
            <a:ext cx="11887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FFFFF"/>
                </a:solidFill>
              </a:rPr>
              <a:t>target mean</a:t>
            </a:r>
            <a:endParaRPr sz="104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E7A9C3D-CA71-409C-BA07-708FB49A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606040"/>
            <a:ext cx="1234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FFFFF"/>
                </a:solidFill>
              </a:rPr>
              <a:t>argmax median</a:t>
            </a:r>
            <a:endParaRPr sz="104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4D85869-BB58-45EE-A709-01E2B53C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604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FFFFF"/>
                </a:solidFill>
              </a:rPr>
              <a:t>Cᵢ</a:t>
            </a:r>
            <a:endParaRPr sz="104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7711EC-80C7-4BFC-A9BD-D9CC24BC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WTG12</a:t>
            </a:r>
            <a:endParaRPr sz="104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CBBE45-ABD3-4529-BD27-DAAA5E59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017520"/>
            <a:ext cx="11887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−2.428</a:t>
            </a:r>
            <a:endParaRPr sz="104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6FB3706-BD5F-46B7-B5C7-55B74A79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017520"/>
            <a:ext cx="1234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−3.441</a:t>
            </a:r>
            <a:endParaRPr sz="104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D429A96-3402-4965-91E9-702C4ECF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−5.868</a:t>
            </a:r>
            <a:endParaRPr sz="104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EF52484-04A0-4433-ACAD-57054997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2900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WTG13</a:t>
            </a:r>
            <a:endParaRPr sz="104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EFBDD64-89C9-46A3-A7D9-DAC6A86F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429000"/>
            <a:ext cx="11887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−6.613</a:t>
            </a:r>
            <a:endParaRPr sz="104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6B75A28-C51B-4A4A-A2A7-0DC4EE7F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429000"/>
            <a:ext cx="1234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+0.357</a:t>
            </a:r>
            <a:endParaRPr sz="104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A2C85D7-BCDA-489E-B545-051370FF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2900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−6.256</a:t>
            </a:r>
            <a:endParaRPr sz="104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C8B120E-8E75-4E72-B1FA-8553A396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4048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WTG14</a:t>
            </a:r>
            <a:endParaRPr sz="104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FF33840-B0E1-4276-BDD3-50333B6E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840480"/>
            <a:ext cx="11887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−1.762</a:t>
            </a:r>
            <a:endParaRPr sz="104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4720201-1BBE-4F63-BDC8-9E55AAFD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840480"/>
            <a:ext cx="1234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−4.351</a:t>
            </a:r>
            <a:endParaRPr sz="104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3F1C28D-EDF7-4C1E-A6EE-8D834F5C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4048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>
                <a:solidFill>
                  <a:srgbClr val="172033"/>
                </a:solidFill>
              </a:rPr>
              <a:t>−6.114</a:t>
            </a:r>
            <a:endParaRPr sz="104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D0E282F-EAE4-4D90-B28A-C718D551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617720"/>
            <a:ext cx="43891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737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30">
                <a:solidFill>
                  <a:srgbClr val="172033"/>
                </a:solidFill>
                <a:latin typeface="Aptos"/>
                <a:ea typeface="Aptos"/>
                <a:cs typeface="Aptos"/>
              </a:rPr>
              <a:t>C = −6.079° from three turbine means. In each outer LOTO fold, C and sign selection use only the other two turbines.</a:t>
            </a:r>
            <a:endParaRPr sz="143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C4102B4-2052-49DC-BD49-E2E506DD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Strict LOTO model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7C7F10D-9A19-4E99-A856-AFC2646D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737360"/>
            <a:ext cx="48920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172033"/>
                </a:solidFill>
              </a:rPr>
              <a:t>ŷᵢ = Ĉ₋ᵢ − median(θ_argmax,ᵢ)</a:t>
            </a:r>
            <a:endParaRPr sz="21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1F919F6-8B2D-4048-9DDD-4BF8A043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697480"/>
            <a:ext cx="470916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For each held-out turbine: estimate C from the other two turbines only; use the held-out turbine’s unlabeled long-term argmax median.</a:t>
            </a:r>
            <a:endParaRPr sz="15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2CFCD18-EF1B-4BED-A8FC-9CDA41C3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4904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2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FFFFFF"/>
                </a:solidFill>
              </a:rPr>
              <a:t>Holdout</a:t>
            </a:r>
            <a:endParaRPr sz="106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FF8BABC-48F3-47C5-B5D2-A83F5A1C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4904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2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FFFFFF"/>
                </a:solidFill>
              </a:rPr>
              <a:t>Ĉ</a:t>
            </a:r>
            <a:endParaRPr sz="106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72728CE-43BC-4DEF-AF74-58CA422D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74904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2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FFFFFF"/>
                </a:solidFill>
              </a:rPr>
              <a:t>level</a:t>
            </a:r>
            <a:endParaRPr sz="106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E4EF1C3-85EF-48FC-B8BE-B059C489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9040"/>
            <a:ext cx="914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2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FFFFFF"/>
                </a:solidFill>
              </a:rPr>
              <a:t>MAE</a:t>
            </a:r>
            <a:endParaRPr sz="106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D7DE1A8-C650-40AE-B7FA-8E458CA8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6052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WTG12</a:t>
            </a:r>
            <a:endParaRPr sz="106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B030F5C-AEEE-4B3A-9C70-0EE7521A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16052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−6.185</a:t>
            </a:r>
            <a:endParaRPr sz="106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1DE1462-894E-4EB1-9F78-53E4CF65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16052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−2.744</a:t>
            </a:r>
            <a:endParaRPr sz="106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2981DA2-43CB-4F08-BE7F-6C090864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60520"/>
            <a:ext cx="914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0.354</a:t>
            </a:r>
            <a:endParaRPr sz="106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F31B079-30D9-4A2B-8D84-99C7FBC5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7200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WTG13</a:t>
            </a:r>
            <a:endParaRPr sz="106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C6FC5F79-868E-470C-B840-AFDDC906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57200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−5.991</a:t>
            </a:r>
            <a:endParaRPr sz="106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1368333-FFBE-4200-ABA7-4974983A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−6.348</a:t>
            </a:r>
            <a:endParaRPr sz="106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F0471F7-1E40-4891-8404-7CB80FF3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2000"/>
            <a:ext cx="914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0.997</a:t>
            </a:r>
            <a:endParaRPr sz="106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63F677B-F2A9-4DB0-A15E-F7CAB2DC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8348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WTG14</a:t>
            </a:r>
            <a:endParaRPr sz="106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2904548-C4DA-42C8-B67F-3C53F498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8348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−6.062</a:t>
            </a:r>
            <a:endParaRPr sz="106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D337BE7D-4583-4EFD-9255-E32F94BE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98348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−1.711</a:t>
            </a:r>
            <a:endParaRPr sz="106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75BA204-9EDF-404A-B40B-EF9AA43A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983480"/>
            <a:ext cx="914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>
                <a:solidFill>
                  <a:srgbClr val="172033"/>
                </a:solidFill>
              </a:rPr>
              <a:t>0.207</a:t>
            </a:r>
            <a:endParaRPr sz="106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3B3C525-8C88-41FA-9605-D3CAE773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9496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172033"/>
                </a:solidFill>
              </a:rPr>
              <a:t>MACRO</a:t>
            </a:r>
            <a:endParaRPr sz="106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15F651E-B7D2-4F3C-B594-4ECA4674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39496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172033"/>
                </a:solidFill>
              </a:rPr>
              <a:t>—</a:t>
            </a:r>
            <a:endParaRPr sz="106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D0BC5A5-9B40-42AA-B3BC-17DA62CA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9496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172033"/>
                </a:solidFill>
              </a:rPr>
              <a:t>—</a:t>
            </a:r>
            <a:endParaRPr sz="106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0F370363-3156-4812-BC6C-AFF229FF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394960"/>
            <a:ext cx="914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60" b="1">
                <a:solidFill>
                  <a:srgbClr val="172033"/>
                </a:solidFill>
              </a:rPr>
              <a:t>0.519</a:t>
            </a:r>
            <a:endParaRPr sz="1060"/>
          </a:p>
        </p:txBody>
      </p:sp>
    </p:spTree>
    <p:extLst>
      <p:ext uri="{BB962C8B-B14F-4D97-AF65-F5344CB8AC3E}">
        <p14:creationId xmlns:p14="http://schemas.microsoft.com/office/powerpoint/2010/main" val="9207059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9092905-DB31-49E9-8802-31AD49B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895F0B-2BF7-4E74-B424-5C27C14B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Daily dynamics do not improve the constant level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266723-0EBC-44C6-B122-38329115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The long-term constant nearly reaches the best possible constant baseline for each turbine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8F3F82-5BAD-49C9-B41F-952572DA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14245DE-7B42-4186-9804-CDA75168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5/9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CEDEF9-40D5-4323-8B74-15DC6979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695C9E"/>
                </a:solidFill>
                <a:latin typeface="Aptos"/>
                <a:ea typeface="Aptos"/>
                <a:cs typeface="Aptos"/>
              </a:rPr>
              <a:t>Constant-model limit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5102C23-44E3-4784-A73D-3F4411CE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1005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Turbine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9809D48-A52B-4720-B880-0BD19628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69164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LOTO level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87361F3-6091-4DA0-A589-1ABB93D4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69164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Oracle constant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C8D8C9E-BB99-47EE-94BB-3918ABD1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69164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Excess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CC3FFCA-22E1-4F89-8FEF-D4AB86B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03120"/>
            <a:ext cx="1005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WTG12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BBC2335-5D8E-48E0-B422-89FDC647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10312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0.354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DA7D8C-7F04-400F-A3C0-D7AEE382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10312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0.352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14BCD74-DB65-48A0-9EE9-E0C5F8D6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10312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0.001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F1C7166-880D-4DED-8322-023A44C0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14600"/>
            <a:ext cx="1005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WTG13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D35729-25B6-423E-B42F-3CC74256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51460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0.997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B8F5926-C52F-4779-B345-803861DD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51460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0.872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6B3AEE8-1384-4EE5-92CF-49A4087B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1460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0.125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64C525-6AA1-4237-9DEE-0B954E23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26080"/>
            <a:ext cx="1005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WTG14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2AC0BD1-EBC7-4858-8D10-9E6B0107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92608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0.207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F824AA1-4EB7-408E-B28F-6BAA3664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92608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0.162</a:t>
            </a:r>
            <a:endParaRPr sz="10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7E85889-E70E-4178-B7E7-E465E203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92608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0.046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8FFFC28-959C-40CA-B45D-A10FBA73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05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MACRO</a:t>
            </a:r>
            <a:endParaRPr sz="10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337893D-EBE5-48E1-890C-8D715E6D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337560"/>
            <a:ext cx="1051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0.519</a:t>
            </a:r>
            <a:endParaRPr sz="10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7BAE6F3-FC77-4959-B7C3-5E5FB87A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337560"/>
            <a:ext cx="11430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0.462</a:t>
            </a:r>
            <a:endParaRPr sz="10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D087889-59D2-4391-A451-826BD11F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37560"/>
            <a:ext cx="10972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E5"/>
          </a:solidFill>
          <a:ln xmlns:a="http://schemas.openxmlformats.org/drawingml/2006/main" w="12700">
            <a:solidFill>
              <a:srgbClr val="F7F4EE"/>
            </a:solidFill>
          </a:ln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0.057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CD47A28-823C-4B4B-9D8F-FD95A041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4069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4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LOTO vane-level model is only 0.057° above the oracle constant macro MAE. Within a one-level-per-turbine model family, it is close to the limit.</a:t>
            </a:r>
            <a:endParaRPr sz="144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0C61894-25C6-4894-9229-7CB5D347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325880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Temporal dynamics do not help</a:t>
            </a:r>
            <a:endParaRPr sz="11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4E632BC-6AA5-4C90-8733-E6430C41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03320"/>
            <a:ext cx="47548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D0C8B9"/>
            </a:solidFill>
            <a:prstDash val="solid"/>
            <a:tailEnd type="none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53C3918A-758A-4903-8E8A-67EA4C6C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55864"/>
            <a:ext cx="1099566" cy="347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2"/>
          </a:solidFill>
          <a:ln xmlns:a="http://schemas.openxmlformats.org/drawingml/2006/main" w="12700">
            <a:solidFill>
              <a:srgbClr val="168A82">
                <a:alpha val="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4701E2B-0606-4AA7-A7FC-DD87623C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712" y="3099832"/>
            <a:ext cx="113614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0.519</a:t>
            </a:r>
            <a:endParaRPr sz="88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2B9336B-F58B-4EE2-B2C3-AAC6C7A6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40480"/>
            <a:ext cx="109956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Level only</a:t>
            </a:r>
            <a:endParaRPr sz="78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3FD0FD8-BA51-4050-8C7A-7F1E8CB4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3438" y="3080712"/>
            <a:ext cx="1099566" cy="62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12700">
            <a:solidFill>
              <a:srgbClr val="B94A48">
                <a:alpha val="0"/>
              </a:srgbClr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44605B8-3FC2-48DB-B34B-270BA69E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24680"/>
            <a:ext cx="113614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0.930</a:t>
            </a:r>
            <a:endParaRPr sz="88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078ABD46-DB87-42D1-855B-43C9839D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3438" y="3840480"/>
            <a:ext cx="109956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+ dynamics</a:t>
            </a:r>
            <a:endParaRPr sz="78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E1FB0E56-E6BF-45BA-BB14-16D173EE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876" y="3315027"/>
            <a:ext cx="1099566" cy="3882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2F"/>
          </a:solidFill>
          <a:ln xmlns:a="http://schemas.openxmlformats.org/drawingml/2006/main" w="12700">
            <a:solidFill>
              <a:srgbClr val="E07A2F">
                <a:alpha val="0"/>
              </a:srgbClr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7124B74-B77C-4081-9081-49D1C6C1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588" y="3058995"/>
            <a:ext cx="113614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0.580</a:t>
            </a:r>
            <a:endParaRPr sz="88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080AC4A-CDA7-4460-A1F6-45AFE223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876" y="3840480"/>
            <a:ext cx="109956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Nested dyn</a:t>
            </a:r>
            <a:endParaRPr sz="78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9D40C8BE-FB69-4DC1-94B5-5C18D6F0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314" y="1931229"/>
            <a:ext cx="1099566" cy="17720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C9E"/>
          </a:solidFill>
          <a:ln xmlns:a="http://schemas.openxmlformats.org/drawingml/2006/main" w="12700">
            <a:solidFill>
              <a:srgbClr val="695C9E">
                <a:alpha val="0"/>
              </a:srgbClr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1070239-E36E-49A3-B315-E46F079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026" y="1675197"/>
            <a:ext cx="113614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2.647</a:t>
            </a:r>
            <a:endParaRPr sz="88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3A80F82-7D70-46B9-A91E-DDB77257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314" y="3840480"/>
            <a:ext cx="109956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637083"/>
                </a:solidFill>
                <a:latin typeface="Aptos"/>
                <a:ea typeface="Aptos"/>
                <a:cs typeface="Aptos"/>
              </a:rPr>
              <a:t>Residual Ridge</a:t>
            </a:r>
            <a:endParaRPr sz="78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1E0F7D0-0B78-4EE1-94A0-84AFEC2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4251960"/>
            <a:ext cx="46634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Monthly correlations between target and −argmax were weak or negative. Argmax is useful as a long-term reference, not as a daily tracker.</a:t>
            </a:r>
            <a:endParaRPr sz="142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C49FB7F5-C5AE-41AB-ABD2-B296327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5257800"/>
            <a:ext cx="4480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B94A48"/>
                </a:solidFill>
              </a:rPr>
              <a:t>Keep the validated long-term level; do not add unvalidated daily variation.</a:t>
            </a:r>
            <a:endParaRPr sz="1550"/>
          </a:p>
        </p:txBody>
      </p:sp>
    </p:spTree>
    <p:extLst>
      <p:ext uri="{BB962C8B-B14F-4D97-AF65-F5344CB8AC3E}">
        <p14:creationId xmlns:p14="http://schemas.microsoft.com/office/powerpoint/2010/main" val="2308546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C1062FD-95F2-444D-84AA-AB5411E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950519-FF14-4571-8DB1-D9861B9A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Robustness: 0.519° is a point estimate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959A9FC-E9BD-414E-97F5-64AD55AC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28-day calendar-block bootstrap of cached B0 windows and final calibration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AF853A-6762-48C8-87E7-D229769C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E8E897-BF88-4C75-9BD0-005943FA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6/9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8E870D7-4F66-4A90-87F6-AB5B14CA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103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TEMPORAL SAMPLING</a:t>
            </a:r>
            <a:endParaRPr sz="88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9138516-5F13-4093-A70A-62E5818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7632"/>
            <a:ext cx="4937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8329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Strict LOTO macro MAE: 0.519°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Bootstrap median: 0.678°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Bootstrap mean: 0.738°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95% robustness range: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0.448° to 1.470°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14A03B-AFF1-4319-8F82-F0428842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46634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500 replicates · fixed model</a:t>
            </a:r>
            <a:endParaRPr sz="1550"/>
          </a:p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no B0 refit on raw SCADA</a:t>
            </a:r>
            <a:endParaRPr sz="15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32C011B-43CB-42DD-A0A0-8D6F28E2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25880"/>
            <a:ext cx="1188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HOW TO INTERPRET IT</a:t>
            </a:r>
            <a:endParaRPr sz="88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2F9F27-B464-44FE-9D3E-28179B91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172033"/>
                </a:solidFill>
              </a:rPr>
              <a:t>Oracle constant MAE: 0.462°</a:t>
            </a:r>
            <a:endParaRPr sz="15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7731BBF-3855-4F5E-A5EB-FE597C01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47091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frozen method is close to the best constant-per-turbine family. The oracle uses each holdout's own target median and cannot be deployed.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40C576F-6A6D-4FEF-A1A3-9F3EE086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03320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B94A48"/>
                </a:solidFill>
              </a:rPr>
              <a:t>Sampling sensitivity remains</a:t>
            </a:r>
            <a:endParaRPr sz="15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1779C18-5C86-49B9-BA5D-259EC066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70832"/>
            <a:ext cx="4572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851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Shared calendar blocks preserve seasonal composition. These are robustness intervals, not formal confidence intervals for new sites.</a:t>
            </a:r>
            <a:endParaRPr sz="14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5BD521D-232D-4AE5-8177-D684A6D0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10241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8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The low point MAE is promising; it does not remove transfer uncertainty.</a:t>
            </a:r>
            <a:endParaRPr sz="1680"/>
          </a:p>
        </p:txBody>
      </p:sp>
    </p:spTree>
    <p:extLst>
      <p:ext uri="{BB962C8B-B14F-4D97-AF65-F5344CB8AC3E}">
        <p14:creationId xmlns:p14="http://schemas.microsoft.com/office/powerpoint/2010/main" val="6598853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C1062FD-95F2-444D-84AA-AB5411E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950519-FF14-4571-8DB1-D9861B9A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Domain shift is greater for SSS than PPP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959A9FC-E9BD-414E-97F5-64AD55AC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Geometry is a risk diagnostic; it is not part of the frozen prediction equation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AF853A-6762-48C8-87E7-D229769C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E8E897-BF88-4C75-9BD0-005943FA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7/9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8E870D7-4F66-4A90-87F6-AB5B14CA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103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PPP_WTG17</a:t>
            </a:r>
            <a:endParaRPr sz="88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9138516-5F13-4093-A70A-62E5818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7632"/>
            <a:ext cx="4937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8329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Mean directional exposure: 0.382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PPP train range: 0.274–0.332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Profile correlation with WTG12: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0.674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Moderate shift with train overlap.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14A03B-AFF1-4319-8F82-F0428842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46634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Higher robustness for PPP17</a:t>
            </a:r>
            <a:endParaRPr sz="1550"/>
          </a:p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same-site transfer</a:t>
            </a:r>
            <a:endParaRPr sz="15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32C011B-43CB-42DD-A0A0-8D6F28E2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25880"/>
            <a:ext cx="1188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SSS_WTG06</a:t>
            </a:r>
            <a:endParaRPr sz="88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2F9F27-B464-44FE-9D3E-28179B91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172033"/>
                </a:solidFill>
              </a:rPr>
              <a:t>Larger cross-site extrapolation</a:t>
            </a:r>
            <a:endParaRPr sz="15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7731BBF-3855-4F5E-A5EB-FE597C01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47091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Mean directional exposure: 0.529. Profile correlations with the three PPP train turbines are slightly negative. SSS06 is close to SSS05 in vane level.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40C576F-6A6D-4FEF-A1A3-9F3EE086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03320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B94A48"/>
                </a:solidFill>
              </a:rPr>
              <a:t>Corrections did not validate</a:t>
            </a:r>
            <a:endParaRPr sz="15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1779C18-5C86-49B9-BA5D-259EC066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70832"/>
            <a:ext cx="4572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851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Geometry matching: 0.533° vs 0.519°.</a:t>
            </a:r>
            <a:endParaRPr sz="1420"/>
          </a:p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Context normalization: 2.142°.</a:t>
            </a:r>
            <a:endParaRPr sz="1420"/>
          </a:p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Do not turn raw site shift into yaw calibration.</a:t>
            </a:r>
            <a:endParaRPr sz="14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5BD521D-232D-4AE5-8177-D684A6D0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10241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8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Geometry matters physically, but correction worsened strict validation.</a:t>
            </a:r>
            <a:endParaRPr sz="1680"/>
          </a:p>
        </p:txBody>
      </p:sp>
    </p:spTree>
    <p:extLst>
      <p:ext uri="{BB962C8B-B14F-4D97-AF65-F5344CB8AC3E}">
        <p14:creationId xmlns:p14="http://schemas.microsoft.com/office/powerpoint/2010/main" val="6598853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C1062FD-95F2-444D-84AA-AB5411E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950519-FF14-4571-8DB1-D9861B9A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Frozen target predictions retain full-data points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959A9FC-E9BD-414E-97F5-64AD55AC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C = −6.079° · yaw = C − θ* · bootstrap values never replace the point prediction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AF853A-6762-48C8-87E7-D229769C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CE8E897-BF88-4C75-9BD0-005943FA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8/9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8E870D7-4F66-4A90-87F6-AB5B14CA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103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68A82"/>
                </a:solidFill>
                <a:latin typeface="Aptos"/>
                <a:ea typeface="Aptos"/>
                <a:cs typeface="Aptos"/>
              </a:rPr>
              <a:t>PPP_WTG17</a:t>
            </a:r>
            <a:endParaRPr sz="88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9138516-5F13-4093-A70A-62E5818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7632"/>
            <a:ext cx="4937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8329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θ* = −2.484°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Frozen yaw = −3.596°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Bootstrap std = 0.375°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95% robustness interval: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033"/>
                </a:solidFill>
                <a:latin typeface="Aptos"/>
                <a:ea typeface="Aptos"/>
                <a:cs typeface="Aptos"/>
              </a:rPr>
              <a:t>[−4.527°, −2.996°]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14A03B-AFF1-4319-8F82-F0428842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46634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Frozen export: −3.596000°</a:t>
            </a:r>
            <a:endParaRPr sz="1550"/>
          </a:p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172033"/>
                </a:solidFill>
              </a:rPr>
              <a:t>one value for all required dates</a:t>
            </a:r>
            <a:endParaRPr sz="15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32C011B-43CB-42DD-A0A0-8D6F28E2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25880"/>
            <a:ext cx="1188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07A2F"/>
                </a:solidFill>
                <a:latin typeface="Aptos"/>
                <a:ea typeface="Aptos"/>
                <a:cs typeface="Aptos"/>
              </a:rPr>
              <a:t>SSS_WTG06</a:t>
            </a:r>
            <a:endParaRPr sz="88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2F9F27-B464-44FE-9D3E-28179B91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172033"/>
                </a:solidFill>
              </a:rPr>
              <a:t>Frozen yaw = −4.568°</a:t>
            </a:r>
            <a:endParaRPr sz="15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7731BBF-3855-4F5E-A5EB-FE597C01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47091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θ* = −1.511°</a:t>
            </a:r>
            <a:endParaRPr sz="1500"/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Bootstrap std = 1.365°</a:t>
            </a:r>
            <a:endParaRPr sz="1500"/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95% robustness interval:</a:t>
            </a:r>
            <a:endParaRPr sz="1500"/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172033"/>
                </a:solidFill>
                <a:latin typeface="Aptos"/>
                <a:ea typeface="Aptos"/>
                <a:cs typeface="Aptos"/>
              </a:rPr>
              <a:t>[−6.644°, −2.280°]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40C576F-6A6D-4FEF-A1A3-9F3EE086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03320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20" b="1">
                <a:solidFill>
                  <a:srgbClr val="B94A48"/>
                </a:solidFill>
              </a:rPr>
              <a:t>Cross-site uncertainty is larger</a:t>
            </a:r>
            <a:endParaRPr sz="152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1779C18-5C86-49B9-BA5D-259EC066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70832"/>
            <a:ext cx="4572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851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731 daily rows per target, 2023–2024.</a:t>
            </a:r>
            <a:endParaRPr sz="1420"/>
          </a:p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One constant cluster: 0.</a:t>
            </a:r>
            <a:endParaRPr sz="1420"/>
          </a:p>
          <a:p xmlns:a="http://schemas.openxmlformats.org/drawingml/2006/main">
            <a:pPr marL="0" indent="0" algn="l">
              <a:buNone/>
            </a:pPr>
            <a:r>
              <a:rPr sz="1420">
                <a:solidFill>
                  <a:srgbClr val="172033"/>
                </a:solidFill>
                <a:latin typeface="Aptos"/>
                <a:ea typeface="Aptos"/>
                <a:cs typeface="Aptos"/>
              </a:rPr>
              <a:t>Exports use the frozen three-decimal points.</a:t>
            </a:r>
            <a:endParaRPr sz="14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5BD521D-232D-4AE5-8177-D684A6D0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10241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8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Robustness intervals describe resampling sensitivity, not formal confidence.</a:t>
            </a:r>
            <a:endParaRPr sz="1680"/>
          </a:p>
        </p:txBody>
      </p:sp>
    </p:spTree>
    <p:extLst>
      <p:ext uri="{BB962C8B-B14F-4D97-AF65-F5344CB8AC3E}">
        <p14:creationId xmlns:p14="http://schemas.microsoft.com/office/powerpoint/2010/main" val="6598853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549B08-3CBF-4EF5-8855-879A3929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12700">
            <a:solidFill>
              <a:srgbClr val="F7F4EE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C749B0-A88F-459F-B257-12CE5F18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72033"/>
                </a:solidFill>
              </a:rPr>
              <a:t>The next useful evidence is a new labelled site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C29BEEF-D2C4-4CCA-913C-511CE64F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378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Freeze the winner; evaluate transfer before expanding the model</a:t>
            </a:r>
            <a:endParaRPr sz="10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22B786-E297-48F3-B18E-59C5A17B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78992"/>
            <a:ext cx="1115568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7F4EE">
              <a:alpha val="0"/>
            </a:srgbClr>
          </a:solidFill>
          <a:ln xmlns:a="http://schemas.openxmlformats.org/drawingml/2006/main" w="12700">
            <a:solidFill>
              <a:srgbClr val="E7E1D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F5C7092-ABB4-4A02-B3CF-AF75674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411480"/>
            <a:ext cx="502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37083"/>
                </a:solidFill>
              </a:rPr>
              <a:t>9/9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6E7B32D-25AC-4B6D-B7AA-2AACB6F8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5F8B"/>
                </a:solidFill>
                <a:latin typeface="Aptos"/>
                <a:ea typeface="Aptos"/>
                <a:cs typeface="Aptos"/>
              </a:rPr>
              <a:t>What is established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8BA9DF-1D94-4CA0-A080-A6F09D92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9601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8"/>
          </a:solidFill>
          <a:ln xmlns:a="http://schemas.openxmlformats.org/drawingml/2006/main" w="12700">
            <a:solidFill>
              <a:srgbClr val="2D5F8B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1</a:t>
            </a:r>
            <a:endParaRPr sz="1800"/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Model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59DFC38-DEDF-46E3-9576-D865D634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088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989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172033"/>
                </a:solidFill>
                <a:latin typeface="Aptos"/>
                <a:ea typeface="Aptos"/>
                <a:cs typeface="Aptos"/>
              </a:rPr>
              <a:t>yaw = C − θ*. No daily dynamics, geometry adjustment or context normalization.</a:t>
            </a:r>
            <a:endParaRPr sz="16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FAD9C9B-85D2-45E5-8681-749B4F09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88920"/>
            <a:ext cx="9601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F"/>
          </a:solidFill>
          <a:ln xmlns:a="http://schemas.openxmlformats.org/drawingml/2006/main" w="12700">
            <a:solidFill>
              <a:srgbClr val="168A82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2</a:t>
            </a:r>
            <a:endParaRPr sz="1800"/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Evidence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E5E76A0-905E-49CE-8682-87B659D8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52928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9989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172033"/>
                </a:solidFill>
                <a:latin typeface="Aptos"/>
                <a:ea typeface="Aptos"/>
                <a:cs typeface="Aptos"/>
              </a:rPr>
              <a:t>LOTO macro MAE 0.519°. Training-only sign checks select −1 in all three outer folds.</a:t>
            </a:r>
            <a:endParaRPr sz="16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A6B7E27-15C6-4D83-8B03-70EE4162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94760"/>
            <a:ext cx="9601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C7"/>
          </a:solidFill>
          <a:ln xmlns:a="http://schemas.openxmlformats.org/drawingml/2006/main" w="12700">
            <a:solidFill>
              <a:srgbClr val="E07A2F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3</a:t>
            </a:r>
            <a:endParaRPr sz="1800"/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2033"/>
                </a:solidFill>
              </a:rPr>
              <a:t>Limits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9740290-4FDF-420E-8AB3-7EFB264E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58768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8178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172033"/>
                </a:solidFill>
                <a:latin typeface="Aptos"/>
                <a:ea typeface="Aptos"/>
                <a:cs typeface="Aptos"/>
              </a:rPr>
              <a:t>Only three labelled turbines. The formula was discovered on this same development set; new-site validation is still needed.</a:t>
            </a:r>
            <a:endParaRPr sz="16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488AB4B-027E-4FA9-88D0-A88F0222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32588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Rejected additions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5C0BB41-C5DF-4DD4-A250-D5C65C4F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737360"/>
            <a:ext cx="3063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80" b="1">
                <a:solidFill>
                  <a:srgbClr val="B94A48"/>
                </a:solidFill>
              </a:rPr>
              <a:t>RF blends: no gain</a:t>
            </a:r>
            <a:endParaRPr sz="148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E5DF713-FDF5-4447-807D-D8311BF6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77440"/>
            <a:ext cx="3063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80" b="1">
                <a:solidFill>
                  <a:srgbClr val="B94A48"/>
                </a:solidFill>
              </a:rPr>
              <a:t>Residual features: +0.005° only</a:t>
            </a:r>
            <a:endParaRPr sz="148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185FF7-B39E-4DFE-9088-25838F2D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017520"/>
            <a:ext cx="3063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80" b="1">
                <a:solidFill>
                  <a:srgbClr val="B94A48"/>
                </a:solidFill>
              </a:rPr>
              <a:t>Dynamic models: false variation</a:t>
            </a:r>
            <a:endParaRPr sz="148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2BEA9E2-C9DE-45A6-ACD9-0176EB29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657600"/>
            <a:ext cx="3063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94A48"/>
            </a:solidFill>
          </a:ln>
        </p:spPr>
        <p:txBody>
          <a:bodyPr xmlns:a="http://schemas.openxmlformats.org/drawingml/2006/main" wrap="square" lIns="1016" tIns="1016" rIns="1016" bIns="1016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80" b="1">
                <a:solidFill>
                  <a:srgbClr val="B94A48"/>
                </a:solidFill>
              </a:rPr>
              <a:t>ML power surface: unstable peak</a:t>
            </a:r>
            <a:endParaRPr sz="148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DF1F841-2869-492D-AED6-B02B95DF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54880"/>
            <a:ext cx="38404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3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Winner → robustness → domain shift → final prediction. The model is frozen; SSS transfer is the main uncertainty.</a:t>
            </a:r>
            <a:endParaRPr sz="1530"/>
          </a:p>
        </p:txBody>
      </p:sp>
    </p:spTree>
    <p:extLst>
      <p:ext uri="{BB962C8B-B14F-4D97-AF65-F5344CB8AC3E}">
        <p14:creationId xmlns:p14="http://schemas.microsoft.com/office/powerpoint/2010/main" val="87077432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2026-09-11T06:55:39.3530000Z</dcterms:created>
  <dcterms:modified xsi:type="dcterms:W3CDTF">2026-09-11T06:55:39.3530000Z</dcterms:modified>
</coreProperties>
</file>