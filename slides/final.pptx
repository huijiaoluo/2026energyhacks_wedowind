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2DD4BF"/>
                </a:solidFill>
              </a:rPr>
              <a:t>STATE-AWARE HYBRID UPDATE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8813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F8FAFC"/>
                </a:solidFill>
              </a:rPr>
              <a:t>Static yaw misalignment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566928" y="1207008"/>
            <a:ext cx="105156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CBD5E1"/>
                </a:solidFill>
              </a:rPr>
              <a:t>Latest public validation confirms the missing component was temporal state detection, not high-frequency daily noise.</a:t>
            </a:r>
            <a:endParaRPr lang="en-US" sz="1320" dirty="0"/>
          </a:p>
        </p:txBody>
      </p:sp>
      <p:sp>
        <p:nvSpPr>
          <p:cNvPr id="5" name="Shape 3"/>
          <p:cNvSpPr/>
          <p:nvPr/>
        </p:nvSpPr>
        <p:spPr>
          <a:xfrm>
            <a:off x="566928" y="1591056"/>
            <a:ext cx="5852160" cy="0"/>
          </a:xfrm>
          <a:prstGeom prst="line">
            <a:avLst/>
          </a:prstGeom>
          <a:noFill/>
          <a:ln w="13970">
            <a:solidFill>
              <a:srgbClr val="38BDF8">
                <a:alpha val="9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214884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DD4BF"/>
                </a:solidFill>
              </a:rPr>
              <a:t>0.519°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58368" y="25877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94A3B8"/>
                </a:solidFill>
              </a:rPr>
              <a:t>internal strict LOTO MAE</a:t>
            </a:r>
            <a:endParaRPr lang="en-US" sz="870" dirty="0"/>
          </a:p>
        </p:txBody>
      </p:sp>
      <p:sp>
        <p:nvSpPr>
          <p:cNvPr id="8" name="Text 6"/>
          <p:cNvSpPr/>
          <p:nvPr/>
        </p:nvSpPr>
        <p:spPr>
          <a:xfrm>
            <a:off x="3291840" y="214884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B7185"/>
                </a:solidFill>
              </a:rPr>
              <a:t>5.25°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291840" y="25877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94A3B8"/>
                </a:solidFill>
              </a:rPr>
              <a:t>constant T3 public MAE</a:t>
            </a:r>
            <a:endParaRPr lang="en-US" sz="870" dirty="0"/>
          </a:p>
        </p:txBody>
      </p:sp>
      <p:sp>
        <p:nvSpPr>
          <p:cNvPr id="10" name="Text 8"/>
          <p:cNvSpPr/>
          <p:nvPr/>
        </p:nvSpPr>
        <p:spPr>
          <a:xfrm>
            <a:off x="6126480" y="214884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86EFAC"/>
                </a:solidFill>
              </a:rPr>
              <a:t>1.49°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126480" y="25877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94A3B8"/>
                </a:solidFill>
              </a:rPr>
              <a:t>state-aware T3 public MAE</a:t>
            </a:r>
            <a:endParaRPr lang="en-US" sz="870" dirty="0"/>
          </a:p>
        </p:txBody>
      </p:sp>
      <p:sp>
        <p:nvSpPr>
          <p:cNvPr id="12" name="Text 10"/>
          <p:cNvSpPr/>
          <p:nvPr/>
        </p:nvSpPr>
        <p:spPr>
          <a:xfrm>
            <a:off x="9006840" y="214884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ACC15"/>
                </a:solidFill>
              </a:rPr>
              <a:t>1.00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006840" y="2587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94A3B8"/>
                </a:solidFill>
              </a:rPr>
              <a:t>cluster ARI</a:t>
            </a:r>
            <a:endParaRPr lang="en-US" sz="870" dirty="0"/>
          </a:p>
        </p:txBody>
      </p:sp>
      <p:sp>
        <p:nvSpPr>
          <p:cNvPr id="14" name="Text 12"/>
          <p:cNvSpPr/>
          <p:nvPr/>
        </p:nvSpPr>
        <p:spPr>
          <a:xfrm>
            <a:off x="841248" y="4206240"/>
            <a:ext cx="1014984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Updated story: physics gives a calibrated long-term level; state segmentation restores persistent yaw regimes.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41248" y="4709160"/>
            <a:ext cx="97840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The new validation submission improves MAE by ~72% while matching hidden clusters exactly.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0624" y="6565392"/>
            <a:ext cx="2468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EnergyHacks yaw misalignment · 1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2DD4BF"/>
                </a:solidFill>
              </a:rPr>
              <a:t>PUBLIC VALIDATION RESULT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F8FAFC"/>
                </a:solidFill>
              </a:rPr>
              <a:t>From constant-level failure to state-aware recovery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0607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CBD5E1"/>
                </a:solidFill>
              </a:rPr>
              <a:t>The original constant model was a useful ablation; the leaderboard exposed its missing temporal state component.</a:t>
            </a:r>
            <a:endParaRPr lang="en-US" sz="1320" dirty="0"/>
          </a:p>
        </p:txBody>
      </p:sp>
      <p:sp>
        <p:nvSpPr>
          <p:cNvPr id="5" name="Text 3"/>
          <p:cNvSpPr/>
          <p:nvPr/>
        </p:nvSpPr>
        <p:spPr>
          <a:xfrm>
            <a:off x="914400" y="1591056"/>
            <a:ext cx="9144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</a:rPr>
              <a:t>MAE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011680" y="1591056"/>
            <a:ext cx="10972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</a:rPr>
              <a:t>RMSE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32688" y="1965960"/>
            <a:ext cx="658368" cy="2832354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38528" y="1965960"/>
            <a:ext cx="658368" cy="2848539"/>
          </a:xfrm>
          <a:prstGeom prst="rect">
            <a:avLst/>
          </a:prstGeom>
          <a:solidFill>
            <a:srgbClr val="FB7185">
              <a:alpha val="75000"/>
            </a:srgbClr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73168" y="3994465"/>
            <a:ext cx="658368" cy="803849"/>
          </a:xfrm>
          <a:prstGeom prst="rect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79008" y="3962095"/>
            <a:ext cx="658368" cy="852404"/>
          </a:xfrm>
          <a:prstGeom prst="rect">
            <a:avLst/>
          </a:prstGeom>
          <a:solidFill>
            <a:srgbClr val="86EFAC">
              <a:alpha val="85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983480"/>
            <a:ext cx="25603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B7185"/>
                </a:solidFill>
              </a:rPr>
              <a:t>Sub #0: constant T3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187952" y="4983480"/>
            <a:ext cx="30175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86EFAC"/>
                </a:solidFill>
              </a:rPr>
              <a:t>Sub #1: state-aware hybrid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68680" y="534924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B7185"/>
                </a:solidFill>
              </a:rPr>
              <a:t>5.25°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68680" y="57881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94A3B8"/>
                </a:solidFill>
              </a:rPr>
              <a:t>MAE</a:t>
            </a:r>
            <a:endParaRPr lang="en-US" sz="870" dirty="0"/>
          </a:p>
        </p:txBody>
      </p:sp>
      <p:sp>
        <p:nvSpPr>
          <p:cNvPr id="15" name="Text 13"/>
          <p:cNvSpPr/>
          <p:nvPr/>
        </p:nvSpPr>
        <p:spPr>
          <a:xfrm>
            <a:off x="1965960" y="534924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B7185"/>
                </a:solidFill>
              </a:rPr>
              <a:t>5.28°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965960" y="57881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94A3B8"/>
                </a:solidFill>
              </a:rPr>
              <a:t>RMSE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4434840" y="534924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86EFAC"/>
                </a:solidFill>
              </a:rPr>
              <a:t>1.49°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434840" y="57881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94A3B8"/>
                </a:solidFill>
              </a:rPr>
              <a:t>MAE</a:t>
            </a:r>
            <a:endParaRPr lang="en-US" sz="870" dirty="0"/>
          </a:p>
        </p:txBody>
      </p:sp>
      <p:sp>
        <p:nvSpPr>
          <p:cNvPr id="19" name="Text 17"/>
          <p:cNvSpPr/>
          <p:nvPr/>
        </p:nvSpPr>
        <p:spPr>
          <a:xfrm>
            <a:off x="5532120" y="534924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86EFAC"/>
                </a:solidFill>
              </a:rPr>
              <a:t>1.58°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532120" y="57881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94A3B8"/>
                </a:solidFill>
              </a:rPr>
              <a:t>RMSE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7635240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ACC15"/>
                </a:solidFill>
              </a:rPr>
              <a:t>Key readout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635240" y="2377440"/>
            <a:ext cx="36576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ARI = 1.00 means the state boundaries are correct on the public validation target.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635240" y="3383280"/>
            <a:ext cx="36576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Remaining error is now mostly cluster-level yaw calibration, not change-point timing.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20624" y="6565392"/>
            <a:ext cx="2468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EnergyHacks yaw misalignment · 2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2DD4BF"/>
                </a:solidFill>
              </a:rPr>
              <a:t>MODEL ARCHITECTURE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F8FAFC"/>
                </a:solidFill>
              </a:rPr>
              <a:t>Hybrid = calibrated level + zero-mean temporal residual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0424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CBD5E1"/>
                </a:solidFill>
              </a:rPr>
              <a:t>The teammate state model supplies regimes; our physics model supplies the absolute center.</a:t>
            </a:r>
            <a:endParaRPr lang="en-US" sz="1320" dirty="0"/>
          </a:p>
        </p:txBody>
      </p:sp>
      <p:sp>
        <p:nvSpPr>
          <p:cNvPr id="5" name="Shape 3"/>
          <p:cNvSpPr/>
          <p:nvPr/>
        </p:nvSpPr>
        <p:spPr>
          <a:xfrm>
            <a:off x="804672" y="1828800"/>
            <a:ext cx="2057400" cy="320040"/>
          </a:xfrm>
          <a:prstGeom prst="roundRect">
            <a:avLst>
              <a:gd name="adj" fmla="val 22857"/>
            </a:avLst>
          </a:prstGeom>
          <a:solidFill>
            <a:srgbClr val="2DD4BF">
              <a:alpha val="18000"/>
            </a:srgbClr>
          </a:solidFill>
          <a:ln w="7620">
            <a:solidFill>
              <a:srgbClr val="2DD4BF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06524"/>
            <a:ext cx="18379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2DD4BF"/>
                </a:solidFill>
              </a:rPr>
              <a:t>physics absolute level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242316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Lᴾᴾᴾ¹⁷ = −3.596°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Lˢˢˢ⁰⁶ = −4.568°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429000" y="2331720"/>
            <a:ext cx="457200" cy="320040"/>
          </a:xfrm>
          <a:prstGeom prst="rightArrow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60520" y="1828800"/>
            <a:ext cx="2331720" cy="320040"/>
          </a:xfrm>
          <a:prstGeom prst="roundRect">
            <a:avLst>
              <a:gd name="adj" fmla="val 22857"/>
            </a:avLst>
          </a:prstGeom>
          <a:solidFill>
            <a:srgbClr val="38BDF8">
              <a:alpha val="18000"/>
            </a:srgbClr>
          </a:solidFill>
          <a:ln w="7620">
            <a:solidFill>
              <a:srgbClr val="38BDF8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70248" y="1906524"/>
            <a:ext cx="2112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38BDF8"/>
                </a:solidFill>
              </a:rPr>
              <a:t>state temporal residual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4160520" y="2331720"/>
            <a:ext cx="2743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piecewise-constant clusters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subtract temporal mean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0" y="2331720"/>
            <a:ext cx="457200" cy="320040"/>
          </a:xfrm>
          <a:prstGeom prst="rightArrow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1828800"/>
            <a:ext cx="1874520" cy="320040"/>
          </a:xfrm>
          <a:prstGeom prst="roundRect">
            <a:avLst>
              <a:gd name="adj" fmla="val 22857"/>
            </a:avLst>
          </a:prstGeom>
          <a:solidFill>
            <a:srgbClr val="FACC15">
              <a:alpha val="18000"/>
            </a:srgbClr>
          </a:solidFill>
          <a:ln w="7620">
            <a:solidFill>
              <a:srgbClr val="FACC15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56448" y="1906524"/>
            <a:ext cx="1655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ACC15"/>
                </a:solidFill>
              </a:rPr>
              <a:t>hybrid submission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8046720" y="2331720"/>
            <a:ext cx="278892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same long-term center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state-aware trajectory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66928" y="3520440"/>
            <a:ext cx="11018520" cy="0"/>
          </a:xfrm>
          <a:prstGeom prst="line">
            <a:avLst/>
          </a:prstGeom>
          <a:noFill/>
          <a:ln w="889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096512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ŷ_hybrid(t) = L_ours + [ y_state(t) − mean(y_state) ]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691640" y="4828032"/>
            <a:ext cx="89611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This avoids claiming the teammate absolute yaw levels as ours; only the zero-mean temporal structure is imported.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20624" y="6565392"/>
            <a:ext cx="2468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EnergyHacks yaw misalignment · 3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2DD4BF"/>
                </a:solidFill>
              </a:rPr>
              <a:t>VALIDATION TRAJECTORY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F8FAFC"/>
                </a:solidFill>
              </a:rPr>
              <a:t>PPP_WTG17: two regimes, exactly matched clusters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98755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CBD5E1"/>
                </a:solidFill>
              </a:rPr>
              <a:t>The temporal residual was almost centered already; our level shift is only −0.061°.</a:t>
            </a:r>
            <a:endParaRPr lang="en-US" sz="1320" dirty="0"/>
          </a:p>
        </p:txBody>
      </p:sp>
      <p:pic>
        <p:nvPicPr>
          <p:cNvPr id="5" name="Image 0" descr="/mnt/data/slide_assets/val_tim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00200"/>
            <a:ext cx="6812280" cy="3474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818120" y="17830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DD4BF"/>
                </a:solidFill>
              </a:rPr>
              <a:t>−3.596°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818120" y="22219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94A3B8"/>
                </a:solidFill>
              </a:rPr>
              <a:t>hybrid long-term mean</a:t>
            </a:r>
            <a:endParaRPr lang="en-US" sz="870" dirty="0"/>
          </a:p>
        </p:txBody>
      </p:sp>
      <p:sp>
        <p:nvSpPr>
          <p:cNvPr id="8" name="Text 5"/>
          <p:cNvSpPr/>
          <p:nvPr/>
        </p:nvSpPr>
        <p:spPr>
          <a:xfrm>
            <a:off x="7818120" y="278892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818120" y="32278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94A3B8"/>
                </a:solidFill>
              </a:rPr>
              <a:t>clusters in Results_33_T3_1</a:t>
            </a:r>
            <a:endParaRPr lang="en-US" sz="870" dirty="0"/>
          </a:p>
        </p:txBody>
      </p:sp>
      <p:sp>
        <p:nvSpPr>
          <p:cNvPr id="10" name="Text 7"/>
          <p:cNvSpPr/>
          <p:nvPr/>
        </p:nvSpPr>
        <p:spPr>
          <a:xfrm>
            <a:off x="7818120" y="379476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ACC15"/>
                </a:solidFill>
              </a:rPr>
              <a:t>1.00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818120" y="42336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94A3B8"/>
                </a:solidFill>
              </a:rPr>
              <a:t>cluster ARI</a:t>
            </a:r>
            <a:endParaRPr lang="en-US" sz="870" dirty="0"/>
          </a:p>
        </p:txBody>
      </p:sp>
      <p:sp>
        <p:nvSpPr>
          <p:cNvPr id="12" name="Text 9"/>
          <p:cNvSpPr/>
          <p:nvPr/>
        </p:nvSpPr>
        <p:spPr>
          <a:xfrm>
            <a:off x="7818120" y="480060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86EFAC"/>
                </a:solidFill>
              </a:rPr>
              <a:t>1.49°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818120" y="523951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94A3B8"/>
                </a:solidFill>
              </a:rPr>
              <a:t>public MAE</a:t>
            </a:r>
            <a:endParaRPr lang="en-US" sz="870" dirty="0"/>
          </a:p>
        </p:txBody>
      </p:sp>
      <p:sp>
        <p:nvSpPr>
          <p:cNvPr id="14" name="Text 11"/>
          <p:cNvSpPr/>
          <p:nvPr/>
        </p:nvSpPr>
        <p:spPr>
          <a:xfrm>
            <a:off x="777240" y="5623560"/>
            <a:ext cx="685800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State levels after hybrid shift: −7.296° → +0.197°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20624" y="6565392"/>
            <a:ext cx="2468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EnergyHacks yaw misalignment · 4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2DD4BF"/>
                </a:solidFill>
              </a:rPr>
              <a:t>FINAL TRAJECTORY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F8FAFC"/>
                </a:solidFill>
              </a:rPr>
              <a:t>SSS_WTG06: final hybrid keeps 13 temporal regimes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05156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CBD5E1"/>
                </a:solidFill>
              </a:rPr>
              <a:t>For the research release, the final trajectory is recentered to our SSS long-term level. Official replacement depends on organizer rules.</a:t>
            </a:r>
            <a:endParaRPr lang="en-US" sz="1320" dirty="0"/>
          </a:p>
        </p:txBody>
      </p:sp>
      <p:pic>
        <p:nvPicPr>
          <p:cNvPr id="5" name="Image 0" descr="/mnt/data/slide_assets/final_tim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00200"/>
            <a:ext cx="6812280" cy="3474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818120" y="17830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DD4BF"/>
                </a:solidFill>
              </a:rPr>
              <a:t>−4.568°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818120" y="22219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94A3B8"/>
                </a:solidFill>
              </a:rPr>
              <a:t>hybrid long-term mean</a:t>
            </a:r>
            <a:endParaRPr lang="en-US" sz="870" dirty="0"/>
          </a:p>
        </p:txBody>
      </p:sp>
      <p:sp>
        <p:nvSpPr>
          <p:cNvPr id="8" name="Text 5"/>
          <p:cNvSpPr/>
          <p:nvPr/>
        </p:nvSpPr>
        <p:spPr>
          <a:xfrm>
            <a:off x="7818120" y="278892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A78BFA"/>
                </a:solidFill>
              </a:rPr>
              <a:t>13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818120" y="32278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94A3B8"/>
                </a:solidFill>
              </a:rPr>
              <a:t>piecewise-constant clusters</a:t>
            </a:r>
            <a:endParaRPr lang="en-US" sz="870" dirty="0"/>
          </a:p>
        </p:txBody>
      </p:sp>
      <p:sp>
        <p:nvSpPr>
          <p:cNvPr id="10" name="Text 7"/>
          <p:cNvSpPr/>
          <p:nvPr/>
        </p:nvSpPr>
        <p:spPr>
          <a:xfrm>
            <a:off x="7818120" y="379476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ACC15"/>
                </a:solidFill>
              </a:rPr>
              <a:t>−2.083°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818120" y="42336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94A3B8"/>
                </a:solidFill>
              </a:rPr>
              <a:t>trajectory recenter shift</a:t>
            </a:r>
            <a:endParaRPr lang="en-US" sz="870" dirty="0"/>
          </a:p>
        </p:txBody>
      </p:sp>
      <p:sp>
        <p:nvSpPr>
          <p:cNvPr id="12" name="Text 9"/>
          <p:cNvSpPr/>
          <p:nvPr/>
        </p:nvSpPr>
        <p:spPr>
          <a:xfrm>
            <a:off x="7818120" y="4892040"/>
            <a:ext cx="329184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</a:rPr>
              <a:t>Prepared artifact: Results_33_T3_final.csv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04672" y="5623560"/>
            <a:ext cx="914400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B7185"/>
                </a:solidFill>
              </a:rPr>
              <a:t>Do not modify already-merged official final unless organizers explicitly allow it.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420624" y="6565392"/>
            <a:ext cx="2468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EnergyHacks yaw misalignment · 5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2DD4BF"/>
                </a:solidFill>
              </a:rPr>
              <a:t>RELEASE UPDATE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F8FAFC"/>
                </a:solidFill>
              </a:rPr>
              <a:t>What changes in the GitHub repository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0424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CBD5E1"/>
                </a:solidFill>
              </a:rPr>
              <a:t>The repository now separates internal evidence, external failure, and state-aware deployment.</a:t>
            </a:r>
            <a:endParaRPr lang="en-US" sz="1320" dirty="0"/>
          </a:p>
        </p:txBody>
      </p:sp>
      <p:sp>
        <p:nvSpPr>
          <p:cNvPr id="5" name="Text 3"/>
          <p:cNvSpPr/>
          <p:nvPr/>
        </p:nvSpPr>
        <p:spPr>
          <a:xfrm>
            <a:off x="868680" y="182880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94A3B8"/>
                </a:solidFill>
              </a:rPr>
              <a:t>Results_33_T3_0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26771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94A3B8"/>
                </a:solidFill>
              </a:rPr>
              <a:t>historical constant validation</a:t>
            </a:r>
            <a:endParaRPr lang="en-US" sz="870" dirty="0"/>
          </a:p>
        </p:txBody>
      </p:sp>
      <p:sp>
        <p:nvSpPr>
          <p:cNvPr id="7" name="Text 5"/>
          <p:cNvSpPr/>
          <p:nvPr/>
        </p:nvSpPr>
        <p:spPr>
          <a:xfrm>
            <a:off x="868680" y="292608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6EFAC"/>
                </a:solidFill>
              </a:rPr>
              <a:t>Results_33_T3_1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33649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94A3B8"/>
                </a:solidFill>
              </a:rPr>
              <a:t>current validation hybrid</a:t>
            </a:r>
            <a:endParaRPr lang="en-US" sz="870" dirty="0"/>
          </a:p>
        </p:txBody>
      </p:sp>
      <p:sp>
        <p:nvSpPr>
          <p:cNvPr id="9" name="Text 7"/>
          <p:cNvSpPr/>
          <p:nvPr/>
        </p:nvSpPr>
        <p:spPr>
          <a:xfrm>
            <a:off x="868680" y="402336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ACC15"/>
                </a:solidFill>
              </a:rPr>
              <a:t>Results_33_T3_final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44622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94A3B8"/>
                </a:solidFill>
              </a:rPr>
              <a:t>hybrid final artifact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566928" y="5257800"/>
            <a:ext cx="11018520" cy="0"/>
          </a:xfrm>
          <a:prstGeom prst="line">
            <a:avLst/>
          </a:prstGeom>
          <a:noFill/>
          <a:ln w="889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5550408"/>
            <a:ext cx="105156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Root notebook and README should explicitly state: 0.519° LOTO is internal model-selection evidence, while 1.49° / ARI 1.00 is external public validation of the hybrid.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80760" y="1965960"/>
            <a:ext cx="457200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CI should validate the three Participant 33 files and reject stale Participant 30 artifacts.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80760" y="3017520"/>
            <a:ext cx="484632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Recommended PR comment for official repo: only mention the new numbered validation file unless final replacement has organizer approval.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20624" y="6565392"/>
            <a:ext cx="2468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EnergyHacks yaw misalignment · 6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2DD4BF"/>
                </a:solidFill>
              </a:rPr>
              <a:t>MODEL OPTIMIZATION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F8FAFC"/>
                </a:solidFill>
              </a:rPr>
              <a:t>Optimize the state levels, not the state boundaries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03327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CBD5E1"/>
                </a:solidFill>
              </a:rPr>
              <a:t>Validation ARI = 1.00 means segmentation is no longer the bottleneck for PPP_WTG17.</a:t>
            </a:r>
            <a:endParaRPr lang="en-US" sz="1320" dirty="0"/>
          </a:p>
        </p:txBody>
      </p:sp>
      <p:sp>
        <p:nvSpPr>
          <p:cNvPr id="5" name="Text 3"/>
          <p:cNvSpPr/>
          <p:nvPr/>
        </p:nvSpPr>
        <p:spPr>
          <a:xfrm>
            <a:off x="841248" y="1828800"/>
            <a:ext cx="18288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86EFAC"/>
                </a:solidFill>
              </a:rPr>
              <a:t>Do next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41248" y="2267712"/>
            <a:ext cx="3383280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F8FAFC"/>
                </a:solidFill>
              </a:rPr>
              <a:t>Calibrate cluster yaw levels with strict LOTO using state-model outputs on PPP_WTG12/13/14.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526280" y="1828800"/>
            <a:ext cx="21031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38BDF8"/>
                </a:solidFill>
              </a:rPr>
              <a:t>Tune one scalar λ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26280" y="2267712"/>
            <a:ext cx="3429000" cy="804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F8FAFC"/>
                </a:solidFill>
              </a:rPr>
              <a:t>Test ŷ = L + λ·δ(t). λ = 1 worked well; LOTO can reveal whether to shrink or amplify state offsets.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275320" y="1828800"/>
            <a:ext cx="18288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B7185"/>
                </a:solidFill>
              </a:rPr>
              <a:t>Avoid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75320" y="2267712"/>
            <a:ext cx="2926080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F8FAFC"/>
                </a:solidFill>
              </a:rPr>
              <a:t>Do not tune to leaderboard by trial-and-error; do not add daily jitter once clusters are correct.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66928" y="3794760"/>
            <a:ext cx="11018520" cy="0"/>
          </a:xfrm>
          <a:prstGeom prst="line">
            <a:avLst/>
          </a:prstGeom>
          <a:noFill/>
          <a:ln w="889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4389120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ACC15"/>
                </a:solidFill>
              </a:rPr>
              <a:t>Primary hypothesis: remaining 1.49° MAE is state-level calibration error.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60120" y="4983480"/>
            <a:ext cx="9966960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Highest-value experiment: evaluate the teammate state extraction on all labelled turbines, then fit offset/amplitude with strict outer LOTO.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20624" y="6565392"/>
            <a:ext cx="2468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EnergyHacks yaw misalignment · 7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2DD4BF"/>
                </a:solidFill>
              </a:rPr>
              <a:t>ROBUST NEXT EXPERIMENT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F8FAFC"/>
                </a:solidFill>
              </a:rPr>
              <a:t>A clean experiment for T3_2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0424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CBD5E1"/>
                </a:solidFill>
              </a:rPr>
              <a:t>Keep the temporal model fixed, and validate only the calibration layer.</a:t>
            </a:r>
            <a:endParaRPr lang="en-US" sz="1320" dirty="0"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DD4B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25880" y="1901952"/>
            <a:ext cx="960120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For WTG12/13/14, generate state-model predictions and clusters without using the held-out turbine labels.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651760"/>
            <a:ext cx="2743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25880" y="2679192"/>
            <a:ext cx="960120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For each outer fold, fit only the calibration layer: offset C, amplitude λ, or affine state-level mapping.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3429000"/>
            <a:ext cx="2743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ACC15"/>
                </a:solidFill>
              </a:rPr>
              <a:t>3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25880" y="3456432"/>
            <a:ext cx="960120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Score daily MAE and cluster ARI on the held-out labelled turbine; compare against λ=1 hybrid.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4206240"/>
            <a:ext cx="2743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A78BFA"/>
                </a:solidFill>
              </a:rPr>
              <a:t>4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25880" y="4233672"/>
            <a:ext cx="960120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Freeze calibration once, then emit Results_33_T3_2.csv for validation only.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66928" y="5029200"/>
            <a:ext cx="11018520" cy="0"/>
          </a:xfrm>
          <a:prstGeom prst="line">
            <a:avLst/>
          </a:prstGeom>
          <a:noFill/>
          <a:ln w="889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74520" y="5532120"/>
            <a:ext cx="89611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86EFAC"/>
                </a:solidFill>
              </a:rPr>
              <a:t>Decision rule: change the submitted model only if the LOTO gain is broad across turbines, not driven by one fold.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20624" y="6565392"/>
            <a:ext cx="2468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EnergyHacks yaw misalignment · 8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2DD4BF"/>
                </a:solidFill>
              </a:rPr>
              <a:t>SUMMARY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F8FAFC"/>
                </a:solidFill>
              </a:rPr>
              <a:t>Current conclusion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0424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CBD5E1"/>
                </a:solidFill>
              </a:rPr>
              <a:t>The project now has a much sharper decomposition of the problem.</a:t>
            </a:r>
            <a:endParaRPr lang="en-US" sz="1320" dirty="0"/>
          </a:p>
        </p:txBody>
      </p:sp>
      <p:sp>
        <p:nvSpPr>
          <p:cNvPr id="5" name="Text 3"/>
          <p:cNvSpPr/>
          <p:nvPr/>
        </p:nvSpPr>
        <p:spPr>
          <a:xfrm>
            <a:off x="868680" y="196596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DD4BF"/>
                </a:solidFill>
              </a:rPr>
              <a:t>physics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68680" y="24048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94A3B8"/>
                </a:solidFill>
              </a:rPr>
              <a:t>absolute level anchor</a:t>
            </a:r>
            <a:endParaRPr lang="en-US" sz="870" dirty="0"/>
          </a:p>
        </p:txBody>
      </p:sp>
      <p:sp>
        <p:nvSpPr>
          <p:cNvPr id="7" name="Text 5"/>
          <p:cNvSpPr/>
          <p:nvPr/>
        </p:nvSpPr>
        <p:spPr>
          <a:xfrm>
            <a:off x="3749040" y="19659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38BDF8"/>
                </a:solidFill>
              </a:rPr>
              <a:t>state model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3749040" y="24048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94A3B8"/>
                </a:solidFill>
              </a:rPr>
              <a:t>temporal regime detector</a:t>
            </a:r>
            <a:endParaRPr lang="en-US" sz="870" dirty="0"/>
          </a:p>
        </p:txBody>
      </p:sp>
      <p:sp>
        <p:nvSpPr>
          <p:cNvPr id="9" name="Text 7"/>
          <p:cNvSpPr/>
          <p:nvPr/>
        </p:nvSpPr>
        <p:spPr>
          <a:xfrm>
            <a:off x="7040880" y="19659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86EFAC"/>
                </a:solidFill>
              </a:rPr>
              <a:t>hybrid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040880" y="24048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94A3B8"/>
                </a:solidFill>
              </a:rPr>
              <a:t>submission-ready update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566928" y="3401568"/>
            <a:ext cx="11018520" cy="0"/>
          </a:xfrm>
          <a:prstGeom prst="line">
            <a:avLst/>
          </a:prstGeom>
          <a:noFill/>
          <a:ln w="889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886200"/>
            <a:ext cx="27432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ACC15"/>
                </a:solidFill>
              </a:rPr>
              <a:t>What we know now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60120" y="4370832"/>
            <a:ext cx="4572000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The constant physics model was overconfident outside the labelled turbines. State detection was the missing deployment component.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46520" y="3886200"/>
            <a:ext cx="283464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ACC15"/>
                </a:solidFill>
              </a:rPr>
              <a:t>Optimization focus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46520" y="4370832"/>
            <a:ext cx="4389120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Do not chase new architectures first. Improve the cluster-level calibration layer under strict LOTO.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43000" y="5760720"/>
            <a:ext cx="98755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2DD4BF"/>
                </a:solidFill>
              </a:rPr>
              <a:t>Final narrative: internal level discovery → external failure → state-aware hybrid → level-calibration optimization.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20624" y="6565392"/>
            <a:ext cx="2468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EnergyHacks yaw misalignment · 9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Energy Hackdays / WeDoWind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State-aware hybrid yaw misalignment update</dc:title>
  <dc:subject>Static yaw misalignment state-aware hybrid update</dc:subject>
  <dc:creator>OpenAI</dc:creator>
  <cp:lastModifiedBy>OpenAI</cp:lastModifiedBy>
  <cp:revision>1</cp:revision>
  <dcterms:created xsi:type="dcterms:W3CDTF">2026-09-11T09:46:49Z</dcterms:created>
  <dcterms:modified xsi:type="dcterms:W3CDTF">2026-09-11T09:46:49Z</dcterms:modified>
</cp:coreProperties>
</file>